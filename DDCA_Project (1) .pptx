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DB46AEC-3F68-1363-7220-F12F7EE613EE}">
          <p14:sldIdLst>
            <p14:sldId id="256"/>
          </p14:sldIdLst>
        </p14:section>
        <p14:section name="Concept" id="{3116EAEF-9577-D514-C6C7-75F36F78FC56}">
          <p14:sldIdLst>
            <p14:sldId id="257"/>
            <p14:sldId id="258"/>
          </p14:sldIdLst>
        </p14:section>
        <p14:section name="Design" id="{9C476E09-EA6A-A56E-2E1B-ED8575134FD2}">
          <p14:sldIdLst>
            <p14:sldId id="259"/>
            <p14:sldId id="260"/>
            <p14:sldId id="263"/>
            <p14:sldId id="264"/>
            <p14:sldId id="261"/>
          </p14:sldIdLst>
        </p14:section>
        <p14:section name="Close" id="{427181C4-CAC9-16CC-EF4C-762786F72B0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esha Reddy Pendli" userId="c38987a8b6ea1fca" providerId="LiveId" clId="{C235EC7B-EED6-4221-99BA-4333D5831247}"/>
    <pc:docChg chg="custSel modSld">
      <pc:chgData name="Slesha Reddy Pendli" userId="c38987a8b6ea1fca" providerId="LiveId" clId="{C235EC7B-EED6-4221-99BA-4333D5831247}" dt="2026-10-14T09:43:35.084" v="1" actId="478"/>
      <pc:docMkLst>
        <pc:docMk/>
      </pc:docMkLst>
      <pc:sldChg chg="delSp modSp mod">
        <pc:chgData name="Slesha Reddy Pendli" userId="c38987a8b6ea1fca" providerId="LiveId" clId="{C235EC7B-EED6-4221-99BA-4333D5831247}" dt="2026-10-14T09:43:35.084" v="1" actId="478"/>
        <pc:sldMkLst>
          <pc:docMk/>
          <pc:sldMk cId="0" sldId="262"/>
        </pc:sldMkLst>
        <pc:spChg chg="del mod">
          <ac:chgData name="Slesha Reddy Pendli" userId="c38987a8b6ea1fca" providerId="LiveId" clId="{C235EC7B-EED6-4221-99BA-4333D5831247}" dt="2026-10-14T09:43:35.084" v="1" actId="478"/>
          <ac:spMkLst>
            <pc:docMk/>
            <pc:sldMk cId="0" sldId="262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50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4297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2402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097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DDCA Project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1945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Gray Code to Binary Converter</a:t>
            </a:r>
            <a:endParaRPr lang="en-US" sz="2400" dirty="0"/>
          </a:p>
        </p:txBody>
      </p:sp>
      <p:sp>
        <p:nvSpPr>
          <p:cNvPr id="4" name="Chip 1"/>
          <p:cNvSpPr/>
          <p:nvPr/>
        </p:nvSpPr>
        <p:spPr>
          <a:xfrm>
            <a:off x="54864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5" name="Chip digit 1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Chip 2"/>
          <p:cNvSpPr/>
          <p:nvPr/>
        </p:nvSpPr>
        <p:spPr>
          <a:xfrm>
            <a:off x="118872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7" name="Chip digit 2"/>
          <p:cNvSpPr txBox="1"/>
          <p:nvPr/>
        </p:nvSpPr>
        <p:spPr>
          <a:xfrm>
            <a:off x="11887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0</a:t>
            </a:r>
            <a:endParaRPr lang="en-US" sz="2200" dirty="0"/>
          </a:p>
        </p:txBody>
      </p:sp>
      <p:sp>
        <p:nvSpPr>
          <p:cNvPr id="8" name="Chip 3"/>
          <p:cNvSpPr/>
          <p:nvPr/>
        </p:nvSpPr>
        <p:spPr>
          <a:xfrm>
            <a:off x="182880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9" name="Chip digit 3"/>
          <p:cNvSpPr txBox="1"/>
          <p:nvPr/>
        </p:nvSpPr>
        <p:spPr>
          <a:xfrm>
            <a:off x="1828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0</a:t>
            </a:r>
            <a:endParaRPr lang="en-US" sz="2200" dirty="0"/>
          </a:p>
        </p:txBody>
      </p:sp>
      <p:sp>
        <p:nvSpPr>
          <p:cNvPr id="10" name="Chip 4"/>
          <p:cNvSpPr/>
          <p:nvPr/>
        </p:nvSpPr>
        <p:spPr>
          <a:xfrm>
            <a:off x="2468880" y="33832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11" name="Chip digit 4"/>
          <p:cNvSpPr txBox="1"/>
          <p:nvPr/>
        </p:nvSpPr>
        <p:spPr>
          <a:xfrm>
            <a:off x="24688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am card"/>
          <p:cNvSpPr/>
          <p:nvPr/>
        </p:nvSpPr>
        <p:spPr>
          <a:xfrm>
            <a:off x="4846320" y="868680"/>
            <a:ext cx="384048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/>
        </p:spPr>
      </p:sp>
      <p:sp>
        <p:nvSpPr>
          <p:cNvPr id="13" name="Team details"/>
          <p:cNvSpPr txBox="1"/>
          <p:nvPr/>
        </p:nvSpPr>
        <p:spPr>
          <a:xfrm>
            <a:off x="5120640" y="10972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TEAM MEMBERS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PARVATHANENI PAVAN VIRESH CHOWDARY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2620040035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PENDLI SLESHA REDDY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2620040036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JALADI ROHITA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2620040040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VEERNALA SAI RAM VENKATA SATHWIK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2620040073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KLH University, Bachupally, Hyderabad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</p:spPr>
      </p:sp>
      <p:sp>
        <p:nvSpPr>
          <p:cNvPr id="4" name="Statement text"/>
          <p:cNvSpPr txBox="1"/>
          <p:nvPr/>
        </p:nvSpPr>
        <p:spPr>
          <a:xfrm>
            <a:off x="868680" y="16916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OBJECTIVE</a:t>
            </a:r>
            <a:endParaRPr lang="en-US" sz="1200" dirty="0"/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Design a Gray code to binary converter and explain its working and applications.</a:t>
            </a:r>
            <a:endParaRPr lang="en-US" sz="1200" dirty="0"/>
          </a:p>
        </p:txBody>
      </p:sp>
      <p:sp>
        <p:nvSpPr>
          <p:cNvPr id="5" name="Goal card 1"/>
          <p:cNvSpPr/>
          <p:nvPr/>
        </p:nvSpPr>
        <p:spPr>
          <a:xfrm>
            <a:off x="466344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Goal number 1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Goal digit 1"/>
          <p:cNvSpPr txBox="1"/>
          <p:nvPr/>
        </p:nvSpPr>
        <p:spPr>
          <a:xfrm>
            <a:off x="4846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Goal text 1"/>
          <p:cNvSpPr txBox="1"/>
          <p:nvPr/>
        </p:nvSpPr>
        <p:spPr>
          <a:xfrm>
            <a:off x="5486400" y="1463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Understand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 how Gray code changes only one bit per step</a:t>
            </a:r>
            <a:endParaRPr lang="en-US" sz="1600" dirty="0"/>
          </a:p>
        </p:txBody>
      </p:sp>
      <p:sp>
        <p:nvSpPr>
          <p:cNvPr id="9" name="Goal card 2"/>
          <p:cNvSpPr/>
          <p:nvPr/>
        </p:nvSpPr>
        <p:spPr>
          <a:xfrm>
            <a:off x="4663440" y="246888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Goal number 2"/>
          <p:cNvSpPr/>
          <p:nvPr/>
        </p:nvSpPr>
        <p:spPr>
          <a:xfrm>
            <a:off x="484632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oal digit 2"/>
          <p:cNvSpPr txBox="1"/>
          <p:nvPr/>
        </p:nvSpPr>
        <p:spPr>
          <a:xfrm>
            <a:off x="4846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Goal text 2"/>
          <p:cNvSpPr txBox="1"/>
          <p:nvPr/>
        </p:nvSpPr>
        <p:spPr>
          <a:xfrm>
            <a:off x="548640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Derive logic equations and build it with XOR gates</a:t>
            </a:r>
            <a:endParaRPr lang="en-US" sz="1600" dirty="0"/>
          </a:p>
        </p:txBody>
      </p:sp>
      <p:sp>
        <p:nvSpPr>
          <p:cNvPr id="13" name="Goal card 3"/>
          <p:cNvSpPr/>
          <p:nvPr/>
        </p:nvSpPr>
        <p:spPr>
          <a:xfrm>
            <a:off x="4663440" y="356616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Goal number 3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Goal digit 3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Goal text 3"/>
          <p:cNvSpPr txBox="1"/>
          <p:nvPr/>
        </p:nvSpPr>
        <p:spPr>
          <a:xfrm>
            <a:off x="5486400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Verify with a truth table and real-world uses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Gray Code?</a:t>
            </a:r>
            <a:endParaRPr lang="en-US" sz="3200" dirty="0"/>
          </a:p>
        </p:txBody>
      </p:sp>
      <p:sp>
        <p:nvSpPr>
          <p:cNvPr id="3" name="Gray code points"/>
          <p:cNvSpPr txBox="1"/>
          <p:nvPr/>
        </p:nvSpPr>
        <p:spPr>
          <a:xfrm>
            <a:off x="548640" y="137160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binary system where consecutive values differ in only one bit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Also known as reflected binary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Prevents errors when many bits would change at once</a:t>
            </a:r>
            <a:endParaRPr lang="en-US" sz="1600" dirty="0"/>
          </a:p>
        </p:txBody>
      </p:sp>
      <p:sp>
        <p:nvSpPr>
          <p:cNvPr id="4" name="Stat card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Stat value"/>
          <p:cNvSpPr txBox="1"/>
          <p:nvPr/>
        </p:nvSpPr>
        <p:spPr>
          <a:xfrm>
            <a:off x="77724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 bit</a:t>
            </a:r>
            <a:endParaRPr lang="en-US" sz="3600" dirty="0"/>
          </a:p>
        </p:txBody>
      </p:sp>
      <p:sp>
        <p:nvSpPr>
          <p:cNvPr id="6" name="Stat label"/>
          <p:cNvSpPr txBox="1"/>
          <p:nvPr/>
        </p:nvSpPr>
        <p:spPr>
          <a:xfrm>
            <a:off x="237744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changes between every two consecutive codes</a:t>
            </a:r>
            <a:endParaRPr lang="en-US" sz="1400" dirty="0"/>
          </a:p>
        </p:txBody>
      </p:sp>
      <p:graphicFrame>
        <p:nvGraphicFramePr>
          <p:cNvPr id="7" name="Gray cod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749040" cy="30449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Decimal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Binary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Gray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001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011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010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110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111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Working: Gray to Binary</a:t>
            </a:r>
            <a:endParaRPr lang="en-US" sz="3200" dirty="0"/>
          </a:p>
        </p:txBody>
      </p:sp>
      <p:sp>
        <p:nvSpPr>
          <p:cNvPr id="3" name="Rule text"/>
          <p:cNvSpPr txBox="1"/>
          <p:nvPr/>
        </p:nvSpPr>
        <p:spPr>
          <a:xfrm>
            <a:off x="54864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MSB stays the same. Each next binary bit is the previous binary bit XOR the current Gray bit.</a:t>
            </a:r>
            <a:endParaRPr lang="en-US" sz="1600" dirty="0"/>
          </a:p>
        </p:txBody>
      </p:sp>
      <p:sp>
        <p:nvSpPr>
          <p:cNvPr id="4" name="Equation card 1"/>
          <p:cNvSpPr/>
          <p:nvPr/>
        </p:nvSpPr>
        <p:spPr>
          <a:xfrm>
            <a:off x="548640" y="233172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Equation 1"/>
          <p:cNvSpPr txBox="1"/>
          <p:nvPr/>
        </p:nvSpPr>
        <p:spPr>
          <a:xfrm>
            <a:off x="54864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B3 = G3</a:t>
            </a:r>
            <a:endParaRPr lang="en-US" sz="1800" dirty="0"/>
          </a:p>
        </p:txBody>
      </p:sp>
      <p:sp>
        <p:nvSpPr>
          <p:cNvPr id="6" name="Equation card 2"/>
          <p:cNvSpPr/>
          <p:nvPr/>
        </p:nvSpPr>
        <p:spPr>
          <a:xfrm>
            <a:off x="2743200" y="233172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7" name="Equation 2"/>
          <p:cNvSpPr txBox="1"/>
          <p:nvPr/>
        </p:nvSpPr>
        <p:spPr>
          <a:xfrm>
            <a:off x="27432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B2 = B3 ⊕ G2</a:t>
            </a:r>
            <a:endParaRPr lang="en-US" sz="1800" dirty="0"/>
          </a:p>
        </p:txBody>
      </p:sp>
      <p:sp>
        <p:nvSpPr>
          <p:cNvPr id="8" name="Equation card 3"/>
          <p:cNvSpPr/>
          <p:nvPr/>
        </p:nvSpPr>
        <p:spPr>
          <a:xfrm>
            <a:off x="548640" y="310896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Equation 3"/>
          <p:cNvSpPr txBox="1"/>
          <p:nvPr/>
        </p:nvSpPr>
        <p:spPr>
          <a:xfrm>
            <a:off x="5486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B1 = B2 ⊕ G1</a:t>
            </a:r>
            <a:endParaRPr lang="en-US" sz="1800" dirty="0"/>
          </a:p>
        </p:txBody>
      </p:sp>
      <p:sp>
        <p:nvSpPr>
          <p:cNvPr id="10" name="Equation card 4"/>
          <p:cNvSpPr/>
          <p:nvPr/>
        </p:nvSpPr>
        <p:spPr>
          <a:xfrm>
            <a:off x="2743200" y="310896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1" name="Equation 4"/>
          <p:cNvSpPr txBox="1"/>
          <p:nvPr/>
        </p:nvSpPr>
        <p:spPr>
          <a:xfrm>
            <a:off x="27432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B0 = B1 ⊕ G0</a:t>
            </a:r>
            <a:endParaRPr lang="en-US" sz="1800" dirty="0"/>
          </a:p>
        </p:txBody>
      </p:sp>
      <p:sp>
        <p:nvSpPr>
          <p:cNvPr id="12" name="XOR note"/>
          <p:cNvSpPr txBox="1"/>
          <p:nvPr/>
        </p:nvSpPr>
        <p:spPr>
          <a:xfrm>
            <a:off x="54864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⊕ is XOR: the output is 1 only when the two inputs differ.</a:t>
            </a:r>
            <a:endParaRPr lang="en-US" sz="1400" dirty="0"/>
          </a:p>
        </p:txBody>
      </p:sp>
      <p:sp>
        <p:nvSpPr>
          <p:cNvPr id="13" name="Example panel"/>
          <p:cNvSpPr/>
          <p:nvPr/>
        </p:nvSpPr>
        <p:spPr>
          <a:xfrm>
            <a:off x="5029200" y="1325880"/>
            <a:ext cx="356616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/>
        </p:spPr>
      </p:sp>
      <p:sp>
        <p:nvSpPr>
          <p:cNvPr id="14" name="Example label"/>
          <p:cNvSpPr txBox="1"/>
          <p:nvPr/>
        </p:nvSpPr>
        <p:spPr>
          <a:xfrm>
            <a:off x="5349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15" name="Example input"/>
          <p:cNvSpPr txBox="1"/>
          <p:nvPr/>
        </p:nvSpPr>
        <p:spPr>
          <a:xfrm>
            <a:off x="534924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Gray code: 1101</a:t>
            </a:r>
            <a:endParaRPr lang="en-US" sz="2200" dirty="0"/>
          </a:p>
        </p:txBody>
      </p:sp>
      <p:sp>
        <p:nvSpPr>
          <p:cNvPr id="16" name="Example steps"/>
          <p:cNvSpPr txBox="1"/>
          <p:nvPr/>
        </p:nvSpPr>
        <p:spPr>
          <a:xfrm>
            <a:off x="5349240" y="2423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B3 = 1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B2 = 1 ⊕ 1 = 0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B1 = 0 ⊕ 0 = 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B0 = 0 ⊕ 1 = 1</a:t>
            </a:r>
            <a:endParaRPr lang="en-US" sz="1800" dirty="0"/>
          </a:p>
        </p:txBody>
      </p:sp>
      <p:sp>
        <p:nvSpPr>
          <p:cNvPr id="17" name="Example result"/>
          <p:cNvSpPr txBox="1"/>
          <p:nvPr/>
        </p:nvSpPr>
        <p:spPr>
          <a:xfrm>
            <a:off x="534924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Binary: 1001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Circuit Design (4-bit)</a:t>
            </a:r>
            <a:endParaRPr lang="en-US" sz="3200" dirty="0"/>
          </a:p>
        </p:txBody>
      </p:sp>
      <p:sp>
        <p:nvSpPr>
          <p:cNvPr id="3" name="Input G3"/>
          <p:cNvSpPr/>
          <p:nvPr/>
        </p:nvSpPr>
        <p:spPr>
          <a:xfrm>
            <a:off x="822960" y="1371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4" name="Input label G3"/>
          <p:cNvSpPr txBox="1"/>
          <p:nvPr/>
        </p:nvSpPr>
        <p:spPr>
          <a:xfrm>
            <a:off x="8229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G3</a:t>
            </a:r>
            <a:endParaRPr lang="en-US" sz="1800" dirty="0"/>
          </a:p>
        </p:txBody>
      </p:sp>
      <p:sp>
        <p:nvSpPr>
          <p:cNvPr id="5" name="Output B3"/>
          <p:cNvSpPr/>
          <p:nvPr/>
        </p:nvSpPr>
        <p:spPr>
          <a:xfrm>
            <a:off x="822960" y="3657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6" name="Output label B3"/>
          <p:cNvSpPr txBox="1"/>
          <p:nvPr/>
        </p:nvSpPr>
        <p:spPr>
          <a:xfrm>
            <a:off x="8229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B3</a:t>
            </a:r>
            <a:endParaRPr lang="en-US" sz="1800" dirty="0"/>
          </a:p>
        </p:txBody>
      </p:sp>
      <p:sp>
        <p:nvSpPr>
          <p:cNvPr id="7" name="Input G2"/>
          <p:cNvSpPr/>
          <p:nvPr/>
        </p:nvSpPr>
        <p:spPr>
          <a:xfrm>
            <a:off x="2651760" y="1371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8" name="Input label G2"/>
          <p:cNvSpPr txBox="1"/>
          <p:nvPr/>
        </p:nvSpPr>
        <p:spPr>
          <a:xfrm>
            <a:off x="26517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G2</a:t>
            </a:r>
            <a:endParaRPr lang="en-US" sz="1800" dirty="0"/>
          </a:p>
        </p:txBody>
      </p:sp>
      <p:sp>
        <p:nvSpPr>
          <p:cNvPr id="9" name="Output B2"/>
          <p:cNvSpPr/>
          <p:nvPr/>
        </p:nvSpPr>
        <p:spPr>
          <a:xfrm>
            <a:off x="2651760" y="3657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0" name="Output label B2"/>
          <p:cNvSpPr txBox="1"/>
          <p:nvPr/>
        </p:nvSpPr>
        <p:spPr>
          <a:xfrm>
            <a:off x="26517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B2</a:t>
            </a:r>
            <a:endParaRPr lang="en-US" sz="1800" dirty="0"/>
          </a:p>
        </p:txBody>
      </p:sp>
      <p:sp>
        <p:nvSpPr>
          <p:cNvPr id="11" name="XOR gate 2"/>
          <p:cNvSpPr/>
          <p:nvPr/>
        </p:nvSpPr>
        <p:spPr>
          <a:xfrm>
            <a:off x="278892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XOR label 2"/>
          <p:cNvSpPr txBox="1"/>
          <p:nvPr/>
        </p:nvSpPr>
        <p:spPr>
          <a:xfrm>
            <a:off x="27889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XOR</a:t>
            </a:r>
            <a:endParaRPr lang="en-US" sz="1200" dirty="0"/>
          </a:p>
        </p:txBody>
      </p:sp>
      <p:sp>
        <p:nvSpPr>
          <p:cNvPr id="13" name="Wire G2 to XOR"/>
          <p:cNvSpPr/>
          <p:nvPr/>
        </p:nvSpPr>
        <p:spPr>
          <a:xfrm>
            <a:off x="3108960" y="182880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Wire XOR to B2"/>
          <p:cNvSpPr/>
          <p:nvPr/>
        </p:nvSpPr>
        <p:spPr>
          <a:xfrm>
            <a:off x="3108960" y="306324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Input G1"/>
          <p:cNvSpPr/>
          <p:nvPr/>
        </p:nvSpPr>
        <p:spPr>
          <a:xfrm>
            <a:off x="4480560" y="1371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6" name="Input label G1"/>
          <p:cNvSpPr txBox="1"/>
          <p:nvPr/>
        </p:nvSpPr>
        <p:spPr>
          <a:xfrm>
            <a:off x="44805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G1</a:t>
            </a:r>
            <a:endParaRPr lang="en-US" sz="1800" dirty="0"/>
          </a:p>
        </p:txBody>
      </p:sp>
      <p:sp>
        <p:nvSpPr>
          <p:cNvPr id="17" name="Output B1"/>
          <p:cNvSpPr/>
          <p:nvPr/>
        </p:nvSpPr>
        <p:spPr>
          <a:xfrm>
            <a:off x="4480560" y="3657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8" name="Output label B1"/>
          <p:cNvSpPr txBox="1"/>
          <p:nvPr/>
        </p:nvSpPr>
        <p:spPr>
          <a:xfrm>
            <a:off x="44805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B1</a:t>
            </a:r>
            <a:endParaRPr lang="en-US" sz="1800" dirty="0"/>
          </a:p>
        </p:txBody>
      </p:sp>
      <p:sp>
        <p:nvSpPr>
          <p:cNvPr id="19" name="XOR gate 1"/>
          <p:cNvSpPr/>
          <p:nvPr/>
        </p:nvSpPr>
        <p:spPr>
          <a:xfrm>
            <a:off x="461772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XOR label 1"/>
          <p:cNvSpPr txBox="1"/>
          <p:nvPr/>
        </p:nvSpPr>
        <p:spPr>
          <a:xfrm>
            <a:off x="46177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XOR</a:t>
            </a:r>
            <a:endParaRPr lang="en-US" sz="1200" dirty="0"/>
          </a:p>
        </p:txBody>
      </p:sp>
      <p:sp>
        <p:nvSpPr>
          <p:cNvPr id="21" name="Wire G1 to XOR"/>
          <p:cNvSpPr/>
          <p:nvPr/>
        </p:nvSpPr>
        <p:spPr>
          <a:xfrm>
            <a:off x="4937760" y="182880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Wire XOR to B1"/>
          <p:cNvSpPr/>
          <p:nvPr/>
        </p:nvSpPr>
        <p:spPr>
          <a:xfrm>
            <a:off x="4937760" y="306324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Input G0"/>
          <p:cNvSpPr/>
          <p:nvPr/>
        </p:nvSpPr>
        <p:spPr>
          <a:xfrm>
            <a:off x="6309360" y="1371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4" name="Input label G0"/>
          <p:cNvSpPr txBox="1"/>
          <p:nvPr/>
        </p:nvSpPr>
        <p:spPr>
          <a:xfrm>
            <a:off x="63093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G0</a:t>
            </a:r>
            <a:endParaRPr lang="en-US" sz="1800" dirty="0"/>
          </a:p>
        </p:txBody>
      </p:sp>
      <p:sp>
        <p:nvSpPr>
          <p:cNvPr id="25" name="Output B0"/>
          <p:cNvSpPr/>
          <p:nvPr/>
        </p:nvSpPr>
        <p:spPr>
          <a:xfrm>
            <a:off x="6309360" y="3657600"/>
            <a:ext cx="914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6" name="Output label B0"/>
          <p:cNvSpPr txBox="1"/>
          <p:nvPr/>
        </p:nvSpPr>
        <p:spPr>
          <a:xfrm>
            <a:off x="63093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B0</a:t>
            </a:r>
            <a:endParaRPr lang="en-US" sz="1800" dirty="0"/>
          </a:p>
        </p:txBody>
      </p:sp>
      <p:sp>
        <p:nvSpPr>
          <p:cNvPr id="27" name="XOR gate 0"/>
          <p:cNvSpPr/>
          <p:nvPr/>
        </p:nvSpPr>
        <p:spPr>
          <a:xfrm>
            <a:off x="644652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XOR label 0"/>
          <p:cNvSpPr txBox="1"/>
          <p:nvPr/>
        </p:nvSpPr>
        <p:spPr>
          <a:xfrm>
            <a:off x="6446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XOR</a:t>
            </a:r>
            <a:endParaRPr lang="en-US" sz="1200" dirty="0"/>
          </a:p>
        </p:txBody>
      </p:sp>
      <p:sp>
        <p:nvSpPr>
          <p:cNvPr id="29" name="Wire G0 to XOR"/>
          <p:cNvSpPr/>
          <p:nvPr/>
        </p:nvSpPr>
        <p:spPr>
          <a:xfrm>
            <a:off x="6766560" y="182880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Wire XOR to B0"/>
          <p:cNvSpPr/>
          <p:nvPr/>
        </p:nvSpPr>
        <p:spPr>
          <a:xfrm>
            <a:off x="6766560" y="3063240"/>
            <a:ext cx="0" cy="594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Wire G3 to B3"/>
          <p:cNvSpPr/>
          <p:nvPr/>
        </p:nvSpPr>
        <p:spPr>
          <a:xfrm>
            <a:off x="1280160" y="1828800"/>
            <a:ext cx="0" cy="18288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Wire B3 to XOR2"/>
          <p:cNvSpPr/>
          <p:nvPr/>
        </p:nvSpPr>
        <p:spPr>
          <a:xfrm>
            <a:off x="1280160" y="2743200"/>
            <a:ext cx="1508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Wire B2 to XOR1"/>
          <p:cNvSpPr/>
          <p:nvPr/>
        </p:nvSpPr>
        <p:spPr>
          <a:xfrm>
            <a:off x="3429000" y="2743200"/>
            <a:ext cx="1188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Wire B1 to XOR0"/>
          <p:cNvSpPr/>
          <p:nvPr/>
        </p:nvSpPr>
        <p:spPr>
          <a:xfrm>
            <a:off x="5257800" y="2743200"/>
            <a:ext cx="1188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Row label input"/>
          <p:cNvSpPr txBox="1"/>
          <p:nvPr/>
        </p:nvSpPr>
        <p:spPr>
          <a:xfrm>
            <a:off x="7498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Gray code input</a:t>
            </a:r>
            <a:endParaRPr lang="en-US" sz="1400" dirty="0"/>
          </a:p>
        </p:txBody>
      </p:sp>
      <p:sp>
        <p:nvSpPr>
          <p:cNvPr id="36" name="Row label gate"/>
          <p:cNvSpPr txBox="1"/>
          <p:nvPr/>
        </p:nvSpPr>
        <p:spPr>
          <a:xfrm>
            <a:off x="7498080" y="2468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XOR gate</a:t>
            </a:r>
            <a:endParaRPr lang="en-US" sz="1400" dirty="0"/>
          </a:p>
        </p:txBody>
      </p:sp>
      <p:sp>
        <p:nvSpPr>
          <p:cNvPr id="37" name="Row label output"/>
          <p:cNvSpPr txBox="1"/>
          <p:nvPr/>
        </p:nvSpPr>
        <p:spPr>
          <a:xfrm>
            <a:off x="749808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Binary output</a:t>
            </a:r>
            <a:endParaRPr lang="en-US" sz="1400" dirty="0"/>
          </a:p>
        </p:txBody>
      </p:sp>
      <p:sp>
        <p:nvSpPr>
          <p:cNvPr id="38" name="Circuit note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Only 3 XOR gates are needed for 4 bits. Each output feeds the next gate.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62" y="168676"/>
            <a:ext cx="8593585" cy="467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9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406FD5-7410-5E8B-A818-443F04EB9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4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Applications</a:t>
            </a:r>
            <a:endParaRPr lang="en-US" sz="3200" dirty="0"/>
          </a:p>
        </p:txBody>
      </p:sp>
      <p:sp>
        <p:nvSpPr>
          <p:cNvPr id="3" name="App card 1"/>
          <p:cNvSpPr/>
          <p:nvPr/>
        </p:nvSpPr>
        <p:spPr>
          <a:xfrm>
            <a:off x="548640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App number 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pp digit 1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pp text 1"/>
          <p:cNvSpPr txBox="1"/>
          <p:nvPr/>
        </p:nvSpPr>
        <p:spPr>
          <a:xfrm>
            <a:off x="7315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Rotary Encoders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Position sensing with no false readings</a:t>
            </a:r>
            <a:endParaRPr lang="en-US" sz="1600" dirty="0"/>
          </a:p>
        </p:txBody>
      </p:sp>
      <p:sp>
        <p:nvSpPr>
          <p:cNvPr id="7" name="App card 2"/>
          <p:cNvSpPr/>
          <p:nvPr/>
        </p:nvSpPr>
        <p:spPr>
          <a:xfrm>
            <a:off x="3291840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App number 2"/>
          <p:cNvSpPr/>
          <p:nvPr/>
        </p:nvSpPr>
        <p:spPr>
          <a:xfrm>
            <a:off x="34747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pp digit 2"/>
          <p:cNvSpPr txBox="1"/>
          <p:nvPr/>
        </p:nvSpPr>
        <p:spPr>
          <a:xfrm>
            <a:off x="34747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App text 2"/>
          <p:cNvSpPr txBox="1"/>
          <p:nvPr/>
        </p:nvSpPr>
        <p:spPr>
          <a:xfrm>
            <a:off x="34747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Analog-to-Digital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Safer code transitions in converters</a:t>
            </a:r>
            <a:endParaRPr lang="en-US" sz="1600" dirty="0"/>
          </a:p>
        </p:txBody>
      </p:sp>
      <p:sp>
        <p:nvSpPr>
          <p:cNvPr id="11" name="App card 3"/>
          <p:cNvSpPr/>
          <p:nvPr/>
        </p:nvSpPr>
        <p:spPr>
          <a:xfrm>
            <a:off x="6035040" y="137160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App number 3"/>
          <p:cNvSpPr/>
          <p:nvPr/>
        </p:nvSpPr>
        <p:spPr>
          <a:xfrm>
            <a:off x="62179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App digit 3"/>
          <p:cNvSpPr txBox="1"/>
          <p:nvPr/>
        </p:nvSpPr>
        <p:spPr>
          <a:xfrm>
            <a:off x="62179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App text 3"/>
          <p:cNvSpPr txBox="1"/>
          <p:nvPr/>
        </p:nvSpPr>
        <p:spPr>
          <a:xfrm>
            <a:off x="62179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Asynchronous FIFOs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Pointers cross clock domains safely</a:t>
            </a:r>
            <a:endParaRPr lang="en-US" sz="1600" dirty="0"/>
          </a:p>
        </p:txBody>
      </p:sp>
      <p:sp>
        <p:nvSpPr>
          <p:cNvPr id="15" name="App card 4"/>
          <p:cNvSpPr/>
          <p:nvPr/>
        </p:nvSpPr>
        <p:spPr>
          <a:xfrm>
            <a:off x="548640" y="31546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App number 4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pp digit 4"/>
          <p:cNvSpPr txBox="1"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App text 4"/>
          <p:cNvSpPr txBox="1"/>
          <p:nvPr/>
        </p:nvSpPr>
        <p:spPr>
          <a:xfrm>
            <a:off x="731520" y="3886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K-Map Design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Gray order simplifies logic minimization</a:t>
            </a:r>
            <a:endParaRPr lang="en-US" sz="1600" dirty="0"/>
          </a:p>
        </p:txBody>
      </p:sp>
      <p:sp>
        <p:nvSpPr>
          <p:cNvPr id="19" name="App card 5"/>
          <p:cNvSpPr/>
          <p:nvPr/>
        </p:nvSpPr>
        <p:spPr>
          <a:xfrm>
            <a:off x="3291840" y="31546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App number 5"/>
          <p:cNvSpPr/>
          <p:nvPr/>
        </p:nvSpPr>
        <p:spPr>
          <a:xfrm>
            <a:off x="3474720" y="3337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App digit 5"/>
          <p:cNvSpPr txBox="1"/>
          <p:nvPr/>
        </p:nvSpPr>
        <p:spPr>
          <a:xfrm>
            <a:off x="34747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App text 5"/>
          <p:cNvSpPr txBox="1"/>
          <p:nvPr/>
        </p:nvSpPr>
        <p:spPr>
          <a:xfrm>
            <a:off x="3474720" y="3886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Low-Power Counters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bit flips per count, less switching</a:t>
            </a:r>
            <a:endParaRPr lang="en-US" sz="1600" dirty="0"/>
          </a:p>
        </p:txBody>
      </p:sp>
      <p:sp>
        <p:nvSpPr>
          <p:cNvPr id="23" name="App card 6"/>
          <p:cNvSpPr/>
          <p:nvPr/>
        </p:nvSpPr>
        <p:spPr>
          <a:xfrm>
            <a:off x="6035040" y="31546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4" name="App number 6"/>
          <p:cNvSpPr/>
          <p:nvPr/>
        </p:nvSpPr>
        <p:spPr>
          <a:xfrm>
            <a:off x="6217920" y="3337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App digit 6"/>
          <p:cNvSpPr txBox="1"/>
          <p:nvPr/>
        </p:nvSpPr>
        <p:spPr>
          <a:xfrm>
            <a:off x="6217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App text 6"/>
          <p:cNvSpPr txBox="1"/>
          <p:nvPr/>
        </p:nvSpPr>
        <p:spPr>
          <a:xfrm>
            <a:off x="6217920" y="3886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Robotics and Sensors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Reliable angle and position feedback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1"/>
          <p:cNvSpPr/>
          <p:nvPr/>
        </p:nvSpPr>
        <p:spPr>
          <a:xfrm>
            <a:off x="361188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3" name="Chip digit 1"/>
          <p:cNvSpPr txBox="1"/>
          <p:nvPr/>
        </p:nvSpPr>
        <p:spPr>
          <a:xfrm>
            <a:off x="36118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Chip 2"/>
          <p:cNvSpPr/>
          <p:nvPr/>
        </p:nvSpPr>
        <p:spPr>
          <a:xfrm>
            <a:off x="406908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5" name="Chip digit 2"/>
          <p:cNvSpPr txBox="1"/>
          <p:nvPr/>
        </p:nvSpPr>
        <p:spPr>
          <a:xfrm>
            <a:off x="4069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0</a:t>
            </a:r>
            <a:endParaRPr lang="en-US" sz="1600" dirty="0"/>
          </a:p>
        </p:txBody>
      </p:sp>
      <p:sp>
        <p:nvSpPr>
          <p:cNvPr id="6" name="Chip 3"/>
          <p:cNvSpPr/>
          <p:nvPr/>
        </p:nvSpPr>
        <p:spPr>
          <a:xfrm>
            <a:off x="452628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7" name="Chip digit 3"/>
          <p:cNvSpPr txBox="1"/>
          <p:nvPr/>
        </p:nvSpPr>
        <p:spPr>
          <a:xfrm>
            <a:off x="45262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Chip 4"/>
          <p:cNvSpPr/>
          <p:nvPr/>
        </p:nvSpPr>
        <p:spPr>
          <a:xfrm>
            <a:off x="498348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9" name="Chip digit 4"/>
          <p:cNvSpPr txBox="1"/>
          <p:nvPr/>
        </p:nvSpPr>
        <p:spPr>
          <a:xfrm>
            <a:off x="49834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1"/>
          <p:cNvSpPr>
            <a:spLocks noGrp="1"/>
          </p:cNvSpPr>
          <p:nvPr>
            <p:ph type="title" idx="101"/>
          </p:nvPr>
        </p:nvSpPr>
        <p:spPr>
          <a:xfrm>
            <a:off x="548640" y="2240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11" name="Closing subtitle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Gray Code to Binary Converter  |  DDCA Project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Logic">
  <a:themeElements>
    <a:clrScheme name="Digital Logic">
      <a:dk1>
        <a:srgbClr val="1B2B3A"/>
      </a:dk1>
      <a:lt1>
        <a:srgbClr val="FFFFFF"/>
      </a:lt1>
      <a:dk2>
        <a:srgbClr val="0F2A43"/>
      </a:dk2>
      <a:lt2>
        <a:srgbClr val="EEF3F8"/>
      </a:lt2>
      <a:accent1>
        <a:srgbClr val="2EC4B6"/>
      </a:accent1>
      <a:accent2>
        <a:srgbClr val="F2A93B"/>
      </a:accent2>
      <a:accent3>
        <a:srgbClr val="0F2A43"/>
      </a:accent3>
      <a:accent4>
        <a:srgbClr val="5C7C99"/>
      </a:accent4>
      <a:accent5>
        <a:srgbClr val="E4572E"/>
      </a:accent5>
      <a:accent6>
        <a:srgbClr val="8FB8DE"/>
      </a:accent6>
      <a:hlink>
        <a:srgbClr val="2EC4B6"/>
      </a:hlink>
      <a:folHlink>
        <a:srgbClr val="5C7C99"/>
      </a:folHlink>
    </a:clrScheme>
    <a:fontScheme name="Digital Log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359</Words>
  <Application>Microsoft Office PowerPoint</Application>
  <PresentationFormat>On-screen Show (16:9)</PresentationFormat>
  <Paragraphs>123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Digital Logic</vt:lpstr>
      <vt:lpstr>DDCA Project</vt:lpstr>
      <vt:lpstr>Problem Statement</vt:lpstr>
      <vt:lpstr>What is Gray Code?</vt:lpstr>
      <vt:lpstr>Working: Gray to Binary</vt:lpstr>
      <vt:lpstr>Circuit Design (4-bit)</vt:lpstr>
      <vt:lpstr>PowerPoint Presentation</vt:lpstr>
      <vt:lpstr>PowerPoint Presentation</vt:lpstr>
      <vt:lpstr>Applications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 Project - Gray Code to Binary Converter</dc:title>
  <dc:subject>PptxGenJS Presentation</dc:subject>
  <dc:creator>PptxGenJS</dc:creator>
  <cp:lastModifiedBy>Slesha Reddy Pendli</cp:lastModifiedBy>
  <cp:revision>3</cp:revision>
  <dcterms:created xsi:type="dcterms:W3CDTF">2026-10-14T09:30:05Z</dcterms:created>
  <dcterms:modified xsi:type="dcterms:W3CDTF">2026-10-15T07:40:02Z</dcterms:modified>
</cp:coreProperties>
</file>